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5F5F5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5F5F5"/>
                </a:solidFill>
                <a:latin typeface="Arial"/>
              </a:rPr>
              <a:t>Onde os tokens foram gastos (milhões)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(milhões)</c:v>
                </c:pt>
              </c:strCache>
            </c:strRef>
          </c:tx>
          <c:spPr>
            <a:solidFill>
              <a:srgbClr val="3987E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Cache read</c:v>
                  </c:pt>
                  <c:pt idx="1">
                    <c:v>Cache write</c:v>
                  </c:pt>
                  <c:pt idx="2">
                    <c:v>Saída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52.67</c:v>
                </c:pt>
                <c:pt idx="1">
                  <c:v>0.4387</c:v>
                </c:pt>
                <c:pt idx="2">
                  <c:v>0.1734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1A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2E3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1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61A"/>
        </a:solidFill>
        <a:ln>
          <a:noFill/>
        </a:ln>
        <a:effectLst/>
      </c:spPr>
    </c:plotArea>
    <c:plotVisOnly val="1"/>
    <c:dispBlanksAs val="span"/>
  </c:chart>
  <c:spPr>
    <a:solidFill>
      <a:srgbClr val="1416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GameBacklog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Prático 1 — Engenharia de Prompt e Contexto na Prática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de Freitas Bovo   ·   Gabriel Felipe Alexandre dos Santos   ·   Pedro Paulo Barbosa Arantes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164592" cy="164592"/>
          </a:xfrm>
          <a:prstGeom prst="ellipse">
            <a:avLst/>
          </a:prstGeom>
          <a:solidFill>
            <a:srgbClr val="D95926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554480"/>
            <a:ext cx="164592" cy="164592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1554480"/>
            <a:ext cx="164592" cy="164592"/>
          </a:xfrm>
          <a:prstGeom prst="ellipse">
            <a:avLst/>
          </a:prstGeom>
          <a:solidFill>
            <a:srgbClr val="199E7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backlog pessoal de jogos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status — Quero Jogar, Jogando, Terminado — movendo livremente entre eles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completo: criar, editar, remover jogos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por nome e ordenação por data ou nota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Estatísticas por status e total concluído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chamadas de IA em execução — toda IA ficou na construção</a:t>
            </a:r>
            <a:endParaRPr lang="en-US" sz="1600" dirty="0"/>
          </a:p>
        </p:txBody>
      </p:sp>
      <p:pic>
        <p:nvPicPr>
          <p:cNvPr id="5" name="Image 0" descr="/home/claude/deck/evolucao-projeto7finaliz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828800"/>
            <a:ext cx="5669280" cy="26947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0" y="46177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 final — Kanban de status, busca, ordenação e estatísticas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PROMPT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 — CLAUDE.md, estrutura RTF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42062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o Claude Code é neste projeto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decidir e agir diante de ambiguidade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resposta deve vir estruturada</a:t>
            </a:r>
            <a:endParaRPr lang="en-US" sz="1600" dirty="0"/>
          </a:p>
        </p:txBody>
      </p:sp>
      <p:pic>
        <p:nvPicPr>
          <p:cNvPr id="5" name="Image 0" descr="/home/claude/deck/system-prom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737360"/>
            <a:ext cx="4517136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0" y="5806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— lido automaticamente pelo Claude Code a cada sessão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DE PROMPT APLICADA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vs. Zero-shot</a:t>
            </a:r>
            <a:endParaRPr lang="en-US" sz="3400" dirty="0"/>
          </a:p>
        </p:txBody>
      </p:sp>
      <p:pic>
        <p:nvPicPr>
          <p:cNvPr id="4" name="Image 0" descr="/home/claude/deck/comparativo-gerado-fewxz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287768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737360"/>
            <a:ext cx="3108960" cy="5120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tarefa, duas formas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o array de 7 jogos mockados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quase idêntico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estrutura, mesma formatação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D959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real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preservou um comentário de regra de negócio que o few-shot suprimiu ao imitar os exemplos à risca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99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final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mantivemos zero-shot no código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DE CURADORIA DE CONTEXTO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Arquivo inteiro vs. trecho curado — mesma pergunta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"Como devo estruturar a função que atualiza o status de um jogo para 'terminado', considerando as regras de nota e data de conclusão?"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766560" cy="2011680"/>
        </p:xfrm>
        <a:graphic>
          <a:graphicData uri="http://schemas.openxmlformats.org/drawingml/2006/table">
            <a:tbl>
              <a:tblPr/>
              <a:tblGrid>
                <a:gridCol w="2255520"/>
                <a:gridCol w="2255520"/>
                <a:gridCol w="22555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99E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completo (@requisitos.md)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59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reduzido (colado)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de saída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 write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 read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71.389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106.348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5F5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processado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99E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75.146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59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112.719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E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17720"/>
            <a:ext cx="6766560" cy="1874520"/>
          </a:xfrm>
          <a:prstGeom prst="roundRect">
            <a:avLst>
              <a:gd name="adj" fmla="val 2927"/>
            </a:avLst>
          </a:prstGeom>
          <a:solidFill>
            <a:srgbClr val="1E2126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475488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9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contraintuitivo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512064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contexto reduzido gastou MAIS tokens. Hipótese: a mensagem inicial já cacheou o arquivo, favorecendo o @requisitos.md — não é causa confirmada.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377440"/>
            <a:ext cx="40233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Achado que importou de verdade</a:t>
            </a:r>
            <a:endParaRPr lang="en-US" sz="14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contexto completo identificou uma ambiguidade real do requisitos.md (escala de nota) e citou linhas específicas do arquivo.</a:t>
            </a:r>
            <a:endParaRPr lang="en-US" sz="14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endParaRPr lang="en-US" sz="14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99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final</a:t>
            </a:r>
            <a:endParaRPr lang="en-US" sz="14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de retorno tipado { ok, erro }, vinda do contexto completo — decisão de produto baseada no teste.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E CUSTO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chamadas ao Claude Code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1E212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Chamadas registradas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82880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1E2126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965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173.412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37560" y="26060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de saída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1E2126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965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438.654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write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82880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1E2126"/>
          </a:solidFill>
          <a:ln/>
        </p:spPr>
      </p:sp>
      <p:sp>
        <p:nvSpPr>
          <p:cNvPr id="14" name="Text 12"/>
          <p:cNvSpPr/>
          <p:nvPr/>
        </p:nvSpPr>
        <p:spPr>
          <a:xfrm>
            <a:off x="8915400" y="1965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9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$14,02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915400" y="26060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total estimado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566160"/>
          <a:ext cx="5852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675120" y="356616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maior parte do custo não veio de gerar código — veio de cache read. O desenvolvimento ocorreu numa sessão única e contínua, que acumulou ~330 mil tokens de contexto ao longo do dia. Cada mensagem releu esse contexto acumulado.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675120" y="57607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99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Reiniciar sessões periodicamente reduziria custo, ao preço de perder contexto acumulado.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GameBacklog — repositório e URL publicada: [preencher]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A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64592" cy="164592"/>
          </a:xfrm>
          <a:prstGeom prst="ellipse">
            <a:avLst/>
          </a:prstGeom>
          <a:solidFill>
            <a:srgbClr val="D95926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103120"/>
            <a:ext cx="164592" cy="164592"/>
          </a:xfrm>
          <a:prstGeom prst="ellipse">
            <a:avLst/>
          </a:prstGeom>
          <a:solidFill>
            <a:srgbClr val="3987E5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2103120"/>
            <a:ext cx="164592" cy="164592"/>
          </a:xfrm>
          <a:prstGeom prst="ellipse">
            <a:avLst/>
          </a:prstGeom>
          <a:solidFill>
            <a:srgbClr val="199E7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2026-08-19T23:02:14Z</dcterms:created>
  <dcterms:modified xsi:type="dcterms:W3CDTF">2026-08-19T23:02:14Z</dcterms:modified>
</cp:coreProperties>
</file>